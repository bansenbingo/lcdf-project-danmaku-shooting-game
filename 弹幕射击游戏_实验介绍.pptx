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457200" y="1097280"/>
            <a:ext cx="54864" cy="2743200"/>
          </a:xfrm>
          <a:prstGeom prst="rect">
            <a:avLst/>
          </a:prstGeom>
          <a:solidFill>
            <a:srgbClr val="D946EF"/>
          </a:solidFill>
        </p:spPr>
      </p:sp>
      <p:sp>
        <p:nvSpPr>
          <p:cNvPr id="4" name="Shape 2"/>
          <p:cNvSpPr/>
          <p:nvPr/>
        </p:nvSpPr>
        <p:spPr>
          <a:xfrm>
            <a:off x="457200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86384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115568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444752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773936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2103120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2432304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2761488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3090672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3419856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749040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078224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407408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736592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065776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394960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724144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6053328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382512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711696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7040880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7370064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7699248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028432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357616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8686800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9015984" y="411480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76656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1005840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1335024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1664208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1993392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2322576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2651760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2980944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3310128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3639312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3968496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4297680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4626864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4956048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5285232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5614416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5943600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272784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6601968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931152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7260336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7589520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7918704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8247888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8577072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8906256" y="4224528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566928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896112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1225296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1554480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1883664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2212848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2542032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2871216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3200400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3529584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7" name="Shape 65"/>
          <p:cNvSpPr/>
          <p:nvPr/>
        </p:nvSpPr>
        <p:spPr>
          <a:xfrm>
            <a:off x="3858768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4187952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4517136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0" name="Shape 68"/>
          <p:cNvSpPr/>
          <p:nvPr/>
        </p:nvSpPr>
        <p:spPr>
          <a:xfrm>
            <a:off x="4846320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5175504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5504688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3" name="Shape 71"/>
          <p:cNvSpPr/>
          <p:nvPr/>
        </p:nvSpPr>
        <p:spPr>
          <a:xfrm>
            <a:off x="5833872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4" name="Shape 72"/>
          <p:cNvSpPr/>
          <p:nvPr/>
        </p:nvSpPr>
        <p:spPr>
          <a:xfrm>
            <a:off x="6163056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5" name="Shape 73"/>
          <p:cNvSpPr/>
          <p:nvPr/>
        </p:nvSpPr>
        <p:spPr>
          <a:xfrm>
            <a:off x="6492240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6821424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7" name="Shape 75"/>
          <p:cNvSpPr/>
          <p:nvPr/>
        </p:nvSpPr>
        <p:spPr>
          <a:xfrm>
            <a:off x="7150608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8" name="Shape 76"/>
          <p:cNvSpPr/>
          <p:nvPr/>
        </p:nvSpPr>
        <p:spPr>
          <a:xfrm>
            <a:off x="7479792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79" name="Shape 77"/>
          <p:cNvSpPr/>
          <p:nvPr/>
        </p:nvSpPr>
        <p:spPr>
          <a:xfrm>
            <a:off x="7808976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0" name="Shape 78"/>
          <p:cNvSpPr/>
          <p:nvPr/>
        </p:nvSpPr>
        <p:spPr>
          <a:xfrm>
            <a:off x="8138160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1" name="Shape 79"/>
          <p:cNvSpPr/>
          <p:nvPr/>
        </p:nvSpPr>
        <p:spPr>
          <a:xfrm>
            <a:off x="8467344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2" name="Shape 80"/>
          <p:cNvSpPr/>
          <p:nvPr/>
        </p:nvSpPr>
        <p:spPr>
          <a:xfrm>
            <a:off x="8796528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9125712" y="4334256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4" name="Shape 82"/>
          <p:cNvSpPr/>
          <p:nvPr/>
        </p:nvSpPr>
        <p:spPr>
          <a:xfrm>
            <a:off x="457200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5" name="Shape 83"/>
          <p:cNvSpPr/>
          <p:nvPr/>
        </p:nvSpPr>
        <p:spPr>
          <a:xfrm>
            <a:off x="786384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6" name="Shape 84"/>
          <p:cNvSpPr/>
          <p:nvPr/>
        </p:nvSpPr>
        <p:spPr>
          <a:xfrm>
            <a:off x="1115568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7" name="Shape 85"/>
          <p:cNvSpPr/>
          <p:nvPr/>
        </p:nvSpPr>
        <p:spPr>
          <a:xfrm>
            <a:off x="1444752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8" name="Shape 86"/>
          <p:cNvSpPr/>
          <p:nvPr/>
        </p:nvSpPr>
        <p:spPr>
          <a:xfrm>
            <a:off x="1773936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89" name="Shape 87"/>
          <p:cNvSpPr/>
          <p:nvPr/>
        </p:nvSpPr>
        <p:spPr>
          <a:xfrm>
            <a:off x="2103120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0" name="Shape 88"/>
          <p:cNvSpPr/>
          <p:nvPr/>
        </p:nvSpPr>
        <p:spPr>
          <a:xfrm>
            <a:off x="2432304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1" name="Shape 89"/>
          <p:cNvSpPr/>
          <p:nvPr/>
        </p:nvSpPr>
        <p:spPr>
          <a:xfrm>
            <a:off x="2761488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2" name="Shape 90"/>
          <p:cNvSpPr/>
          <p:nvPr/>
        </p:nvSpPr>
        <p:spPr>
          <a:xfrm>
            <a:off x="3090672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3" name="Shape 91"/>
          <p:cNvSpPr/>
          <p:nvPr/>
        </p:nvSpPr>
        <p:spPr>
          <a:xfrm>
            <a:off x="3419856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4" name="Shape 92"/>
          <p:cNvSpPr/>
          <p:nvPr/>
        </p:nvSpPr>
        <p:spPr>
          <a:xfrm>
            <a:off x="3749040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5" name="Shape 93"/>
          <p:cNvSpPr/>
          <p:nvPr/>
        </p:nvSpPr>
        <p:spPr>
          <a:xfrm>
            <a:off x="4078224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6" name="Shape 94"/>
          <p:cNvSpPr/>
          <p:nvPr/>
        </p:nvSpPr>
        <p:spPr>
          <a:xfrm>
            <a:off x="4407408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7" name="Shape 95"/>
          <p:cNvSpPr/>
          <p:nvPr/>
        </p:nvSpPr>
        <p:spPr>
          <a:xfrm>
            <a:off x="4736592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8" name="Shape 96"/>
          <p:cNvSpPr/>
          <p:nvPr/>
        </p:nvSpPr>
        <p:spPr>
          <a:xfrm>
            <a:off x="5065776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99" name="Shape 97"/>
          <p:cNvSpPr/>
          <p:nvPr/>
        </p:nvSpPr>
        <p:spPr>
          <a:xfrm>
            <a:off x="5394960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0" name="Shape 98"/>
          <p:cNvSpPr/>
          <p:nvPr/>
        </p:nvSpPr>
        <p:spPr>
          <a:xfrm>
            <a:off x="5724144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1" name="Shape 99"/>
          <p:cNvSpPr/>
          <p:nvPr/>
        </p:nvSpPr>
        <p:spPr>
          <a:xfrm>
            <a:off x="6053328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2" name="Shape 100"/>
          <p:cNvSpPr/>
          <p:nvPr/>
        </p:nvSpPr>
        <p:spPr>
          <a:xfrm>
            <a:off x="6382512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3" name="Shape 101"/>
          <p:cNvSpPr/>
          <p:nvPr/>
        </p:nvSpPr>
        <p:spPr>
          <a:xfrm>
            <a:off x="6711696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4" name="Shape 102"/>
          <p:cNvSpPr/>
          <p:nvPr/>
        </p:nvSpPr>
        <p:spPr>
          <a:xfrm>
            <a:off x="7040880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5" name="Shape 103"/>
          <p:cNvSpPr/>
          <p:nvPr/>
        </p:nvSpPr>
        <p:spPr>
          <a:xfrm>
            <a:off x="7370064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6" name="Shape 104"/>
          <p:cNvSpPr/>
          <p:nvPr/>
        </p:nvSpPr>
        <p:spPr>
          <a:xfrm>
            <a:off x="7699248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7" name="Shape 105"/>
          <p:cNvSpPr/>
          <p:nvPr/>
        </p:nvSpPr>
        <p:spPr>
          <a:xfrm>
            <a:off x="8028432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8" name="Shape 106"/>
          <p:cNvSpPr/>
          <p:nvPr/>
        </p:nvSpPr>
        <p:spPr>
          <a:xfrm>
            <a:off x="8357616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09" name="Shape 107"/>
          <p:cNvSpPr/>
          <p:nvPr/>
        </p:nvSpPr>
        <p:spPr>
          <a:xfrm>
            <a:off x="8686800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0" name="Shape 108"/>
          <p:cNvSpPr/>
          <p:nvPr/>
        </p:nvSpPr>
        <p:spPr>
          <a:xfrm>
            <a:off x="9015984" y="4443984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1" name="Shape 109"/>
          <p:cNvSpPr/>
          <p:nvPr/>
        </p:nvSpPr>
        <p:spPr>
          <a:xfrm>
            <a:off x="676656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2" name="Shape 110"/>
          <p:cNvSpPr/>
          <p:nvPr/>
        </p:nvSpPr>
        <p:spPr>
          <a:xfrm>
            <a:off x="1005840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3" name="Shape 111"/>
          <p:cNvSpPr/>
          <p:nvPr/>
        </p:nvSpPr>
        <p:spPr>
          <a:xfrm>
            <a:off x="1335024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4" name="Shape 112"/>
          <p:cNvSpPr/>
          <p:nvPr/>
        </p:nvSpPr>
        <p:spPr>
          <a:xfrm>
            <a:off x="1664208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5" name="Shape 113"/>
          <p:cNvSpPr/>
          <p:nvPr/>
        </p:nvSpPr>
        <p:spPr>
          <a:xfrm>
            <a:off x="1993392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6" name="Shape 114"/>
          <p:cNvSpPr/>
          <p:nvPr/>
        </p:nvSpPr>
        <p:spPr>
          <a:xfrm>
            <a:off x="2322576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7" name="Shape 115"/>
          <p:cNvSpPr/>
          <p:nvPr/>
        </p:nvSpPr>
        <p:spPr>
          <a:xfrm>
            <a:off x="2651760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8" name="Shape 116"/>
          <p:cNvSpPr/>
          <p:nvPr/>
        </p:nvSpPr>
        <p:spPr>
          <a:xfrm>
            <a:off x="2980944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19" name="Shape 117"/>
          <p:cNvSpPr/>
          <p:nvPr/>
        </p:nvSpPr>
        <p:spPr>
          <a:xfrm>
            <a:off x="3310128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0" name="Shape 118"/>
          <p:cNvSpPr/>
          <p:nvPr/>
        </p:nvSpPr>
        <p:spPr>
          <a:xfrm>
            <a:off x="3639312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1" name="Shape 119"/>
          <p:cNvSpPr/>
          <p:nvPr/>
        </p:nvSpPr>
        <p:spPr>
          <a:xfrm>
            <a:off x="3968496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2" name="Shape 120"/>
          <p:cNvSpPr/>
          <p:nvPr/>
        </p:nvSpPr>
        <p:spPr>
          <a:xfrm>
            <a:off x="4297680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3" name="Shape 121"/>
          <p:cNvSpPr/>
          <p:nvPr/>
        </p:nvSpPr>
        <p:spPr>
          <a:xfrm>
            <a:off x="4626864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4" name="Shape 122"/>
          <p:cNvSpPr/>
          <p:nvPr/>
        </p:nvSpPr>
        <p:spPr>
          <a:xfrm>
            <a:off x="4956048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5" name="Shape 123"/>
          <p:cNvSpPr/>
          <p:nvPr/>
        </p:nvSpPr>
        <p:spPr>
          <a:xfrm>
            <a:off x="5285232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6" name="Shape 124"/>
          <p:cNvSpPr/>
          <p:nvPr/>
        </p:nvSpPr>
        <p:spPr>
          <a:xfrm>
            <a:off x="5614416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7" name="Shape 125"/>
          <p:cNvSpPr/>
          <p:nvPr/>
        </p:nvSpPr>
        <p:spPr>
          <a:xfrm>
            <a:off x="5943600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8" name="Shape 126"/>
          <p:cNvSpPr/>
          <p:nvPr/>
        </p:nvSpPr>
        <p:spPr>
          <a:xfrm>
            <a:off x="6272784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29" name="Shape 127"/>
          <p:cNvSpPr/>
          <p:nvPr/>
        </p:nvSpPr>
        <p:spPr>
          <a:xfrm>
            <a:off x="6601968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0" name="Shape 128"/>
          <p:cNvSpPr/>
          <p:nvPr/>
        </p:nvSpPr>
        <p:spPr>
          <a:xfrm>
            <a:off x="6931152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1" name="Shape 129"/>
          <p:cNvSpPr/>
          <p:nvPr/>
        </p:nvSpPr>
        <p:spPr>
          <a:xfrm>
            <a:off x="7260336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2" name="Shape 130"/>
          <p:cNvSpPr/>
          <p:nvPr/>
        </p:nvSpPr>
        <p:spPr>
          <a:xfrm>
            <a:off x="7589520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3" name="Shape 131"/>
          <p:cNvSpPr/>
          <p:nvPr/>
        </p:nvSpPr>
        <p:spPr>
          <a:xfrm>
            <a:off x="7918704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4" name="Shape 132"/>
          <p:cNvSpPr/>
          <p:nvPr/>
        </p:nvSpPr>
        <p:spPr>
          <a:xfrm>
            <a:off x="8247888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5" name="Shape 133"/>
          <p:cNvSpPr/>
          <p:nvPr/>
        </p:nvSpPr>
        <p:spPr>
          <a:xfrm>
            <a:off x="8577072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6" name="Shape 134"/>
          <p:cNvSpPr/>
          <p:nvPr/>
        </p:nvSpPr>
        <p:spPr>
          <a:xfrm>
            <a:off x="8906256" y="4553712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7" name="Shape 135"/>
          <p:cNvSpPr/>
          <p:nvPr/>
        </p:nvSpPr>
        <p:spPr>
          <a:xfrm>
            <a:off x="566928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8" name="Shape 136"/>
          <p:cNvSpPr/>
          <p:nvPr/>
        </p:nvSpPr>
        <p:spPr>
          <a:xfrm>
            <a:off x="896112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39" name="Shape 137"/>
          <p:cNvSpPr/>
          <p:nvPr/>
        </p:nvSpPr>
        <p:spPr>
          <a:xfrm>
            <a:off x="1225296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0" name="Shape 138"/>
          <p:cNvSpPr/>
          <p:nvPr/>
        </p:nvSpPr>
        <p:spPr>
          <a:xfrm>
            <a:off x="1554480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1" name="Shape 139"/>
          <p:cNvSpPr/>
          <p:nvPr/>
        </p:nvSpPr>
        <p:spPr>
          <a:xfrm>
            <a:off x="1883664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2" name="Shape 140"/>
          <p:cNvSpPr/>
          <p:nvPr/>
        </p:nvSpPr>
        <p:spPr>
          <a:xfrm>
            <a:off x="2212848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3" name="Shape 141"/>
          <p:cNvSpPr/>
          <p:nvPr/>
        </p:nvSpPr>
        <p:spPr>
          <a:xfrm>
            <a:off x="2542032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4" name="Shape 142"/>
          <p:cNvSpPr/>
          <p:nvPr/>
        </p:nvSpPr>
        <p:spPr>
          <a:xfrm>
            <a:off x="2871216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5" name="Shape 143"/>
          <p:cNvSpPr/>
          <p:nvPr/>
        </p:nvSpPr>
        <p:spPr>
          <a:xfrm>
            <a:off x="3200400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6" name="Shape 144"/>
          <p:cNvSpPr/>
          <p:nvPr/>
        </p:nvSpPr>
        <p:spPr>
          <a:xfrm>
            <a:off x="3529584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7" name="Shape 145"/>
          <p:cNvSpPr/>
          <p:nvPr/>
        </p:nvSpPr>
        <p:spPr>
          <a:xfrm>
            <a:off x="3858768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8" name="Shape 146"/>
          <p:cNvSpPr/>
          <p:nvPr/>
        </p:nvSpPr>
        <p:spPr>
          <a:xfrm>
            <a:off x="4187952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49" name="Shape 147"/>
          <p:cNvSpPr/>
          <p:nvPr/>
        </p:nvSpPr>
        <p:spPr>
          <a:xfrm>
            <a:off x="4517136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0" name="Shape 148"/>
          <p:cNvSpPr/>
          <p:nvPr/>
        </p:nvSpPr>
        <p:spPr>
          <a:xfrm>
            <a:off x="4846320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1" name="Shape 149"/>
          <p:cNvSpPr/>
          <p:nvPr/>
        </p:nvSpPr>
        <p:spPr>
          <a:xfrm>
            <a:off x="5175504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2" name="Shape 150"/>
          <p:cNvSpPr/>
          <p:nvPr/>
        </p:nvSpPr>
        <p:spPr>
          <a:xfrm>
            <a:off x="5504688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3" name="Shape 151"/>
          <p:cNvSpPr/>
          <p:nvPr/>
        </p:nvSpPr>
        <p:spPr>
          <a:xfrm>
            <a:off x="5833872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4" name="Shape 152"/>
          <p:cNvSpPr/>
          <p:nvPr/>
        </p:nvSpPr>
        <p:spPr>
          <a:xfrm>
            <a:off x="6163056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5" name="Shape 153"/>
          <p:cNvSpPr/>
          <p:nvPr/>
        </p:nvSpPr>
        <p:spPr>
          <a:xfrm>
            <a:off x="6492240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6" name="Shape 154"/>
          <p:cNvSpPr/>
          <p:nvPr/>
        </p:nvSpPr>
        <p:spPr>
          <a:xfrm>
            <a:off x="6821424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7" name="Shape 155"/>
          <p:cNvSpPr/>
          <p:nvPr/>
        </p:nvSpPr>
        <p:spPr>
          <a:xfrm>
            <a:off x="7150608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8" name="Shape 156"/>
          <p:cNvSpPr/>
          <p:nvPr/>
        </p:nvSpPr>
        <p:spPr>
          <a:xfrm>
            <a:off x="7479792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59" name="Shape 157"/>
          <p:cNvSpPr/>
          <p:nvPr/>
        </p:nvSpPr>
        <p:spPr>
          <a:xfrm>
            <a:off x="7808976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60" name="Shape 158"/>
          <p:cNvSpPr/>
          <p:nvPr/>
        </p:nvSpPr>
        <p:spPr>
          <a:xfrm>
            <a:off x="8138160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61" name="Shape 159"/>
          <p:cNvSpPr/>
          <p:nvPr/>
        </p:nvSpPr>
        <p:spPr>
          <a:xfrm>
            <a:off x="8467344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62" name="Shape 160"/>
          <p:cNvSpPr/>
          <p:nvPr/>
        </p:nvSpPr>
        <p:spPr>
          <a:xfrm>
            <a:off x="8796528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63" name="Shape 161"/>
          <p:cNvSpPr/>
          <p:nvPr/>
        </p:nvSpPr>
        <p:spPr>
          <a:xfrm>
            <a:off x="9125712" y="4663440"/>
            <a:ext cx="73152" cy="73152"/>
          </a:xfrm>
          <a:prstGeom prst="rect">
            <a:avLst/>
          </a:prstGeom>
          <a:solidFill>
            <a:srgbClr val="06B6D4">
              <a:alpha val="5000"/>
            </a:srgbClr>
          </a:solidFill>
        </p:spPr>
      </p:sp>
      <p:sp>
        <p:nvSpPr>
          <p:cNvPr id="164" name="Text 162"/>
          <p:cNvSpPr/>
          <p:nvPr/>
        </p:nvSpPr>
        <p:spPr>
          <a:xfrm>
            <a:off x="731520" y="1097280"/>
            <a:ext cx="7498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AEROPLANE</a:t>
            </a:r>
            <a:endParaRPr lang="en-US" sz="38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DANMAKU SHOOTING</a:t>
            </a:r>
            <a:endParaRPr lang="en-US" sz="3800" dirty="0"/>
          </a:p>
        </p:txBody>
      </p:sp>
      <p:sp>
        <p:nvSpPr>
          <p:cNvPr id="165" name="Text 163"/>
          <p:cNvSpPr/>
          <p:nvPr/>
        </p:nvSpPr>
        <p:spPr>
          <a:xfrm>
            <a:off x="731520" y="274320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Xilinx K7 FPGA 的弹幕射击游戏</a:t>
            </a:r>
            <a:endParaRPr lang="en-US" sz="1800" dirty="0"/>
          </a:p>
        </p:txBody>
      </p:sp>
      <p:sp>
        <p:nvSpPr>
          <p:cNvPr id="166" name="Shape 164"/>
          <p:cNvSpPr/>
          <p:nvPr/>
        </p:nvSpPr>
        <p:spPr>
          <a:xfrm>
            <a:off x="731520" y="3337560"/>
            <a:ext cx="2286000" cy="2743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67" name="Text 165"/>
          <p:cNvSpPr/>
          <p:nvPr/>
        </p:nvSpPr>
        <p:spPr>
          <a:xfrm>
            <a:off x="731520" y="3520440"/>
            <a:ext cx="7498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数字逻辑设计课程大作业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Vivado 2025.1  |  XC7K160TFFG676-1  |  640×480@60Hz VGA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Verilog HDL  |  PS/2 Keyboard  |  7-Seg Display  |  LED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实验背景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2468880" cy="32004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8" name="Text 6"/>
          <p:cNvSpPr/>
          <p:nvPr/>
        </p:nvSpPr>
        <p:spPr>
          <a:xfrm>
            <a:off x="68580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课程背景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19456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数字逻辑与计算机组成课程实验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掌握 FPGA 开发全流程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 RTL 设计到上板验证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综合运用状态机、时序逻辑等知识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468880" cy="32004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12" name="Text 10"/>
          <p:cNvSpPr/>
          <p:nvPr/>
        </p:nvSpPr>
        <p:spPr>
          <a:xfrm>
            <a:off x="333756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371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平台选择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19456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Xilinx K7 开发板 (XC7K160T)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Vivado 2025.1 开发环境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VGA 640×480 @ 60Hz 显示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PS/2 键盘 + 矩阵按键输入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188720"/>
            <a:ext cx="2468880" cy="32004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16" name="Text 14"/>
          <p:cNvSpPr/>
          <p:nvPr/>
        </p:nvSpPr>
        <p:spPr>
          <a:xfrm>
            <a:off x="5989320" y="1325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项目目标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89320" y="1874520"/>
            <a:ext cx="219456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实现一个完整的弹幕射击游戏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支持多种游戏模式与难度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集成键盘、VGA、数码管等外设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优化时序、控制资源使用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硬件平台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029200" cy="32004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8" name="Text 6"/>
          <p:cNvSpPr/>
          <p:nvPr/>
        </p:nvSpPr>
        <p:spPr>
          <a:xfrm>
            <a:off x="640080" y="10972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主控芯片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0972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XC7K160TFFG676-1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5029200" cy="320040"/>
          </a:xfrm>
          <a:prstGeom prst="rect">
            <a:avLst/>
          </a:prstGeom>
          <a:solidFill>
            <a:srgbClr val="0B1120">
              <a:alpha val="4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40080" y="14173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系统时钟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4173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100MHz (板载晶振)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5029200" cy="32004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14" name="Text 12"/>
          <p:cNvSpPr/>
          <p:nvPr/>
        </p:nvSpPr>
        <p:spPr>
          <a:xfrm>
            <a:off x="640080" y="17373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显示输出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737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VGA 640×480 @ 60Hz, 12-bit 色深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5029200" cy="320040"/>
          </a:xfrm>
          <a:prstGeom prst="rect">
            <a:avLst/>
          </a:prstGeom>
          <a:solidFill>
            <a:srgbClr val="0B1120">
              <a:alpha val="4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40080" y="20574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输入设备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057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PS/2 键盘 + 5 个板载按键 + 16 路拨码开关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77440"/>
            <a:ext cx="5029200" cy="32004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20" name="Text 18"/>
          <p:cNvSpPr/>
          <p:nvPr/>
        </p:nvSpPr>
        <p:spPr>
          <a:xfrm>
            <a:off x="640080" y="23774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显示外设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23774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× 7段数码管 + 8 × LED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697480"/>
            <a:ext cx="5029200" cy="320040"/>
          </a:xfrm>
          <a:prstGeom prst="rect">
            <a:avLst/>
          </a:prstGeom>
          <a:solidFill>
            <a:srgbClr val="0B1120">
              <a:alpha val="4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40080" y="26974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开发环境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26974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Vivado 2025.1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5029200" cy="32004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26" name="Text 24"/>
          <p:cNvSpPr/>
          <p:nvPr/>
        </p:nvSpPr>
        <p:spPr>
          <a:xfrm>
            <a:off x="640080" y="30175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编程语言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3017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Verilog HDL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1097280"/>
            <a:ext cx="3017520" cy="411480"/>
          </a:xfrm>
          <a:prstGeom prst="rect">
            <a:avLst/>
          </a:prstGeom>
          <a:solidFill>
            <a:srgbClr val="06B6D4">
              <a:alpha val="15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097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PS/2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10972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键盘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1600200"/>
            <a:ext cx="3017520" cy="411480"/>
          </a:xfrm>
          <a:prstGeom prst="rect">
            <a:avLst/>
          </a:prstGeom>
          <a:solidFill>
            <a:srgbClr val="22C55E">
              <a:alpha val="15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60020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VGA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16002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640×480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2103120"/>
            <a:ext cx="3017520" cy="411480"/>
          </a:xfrm>
          <a:prstGeom prst="rect">
            <a:avLst/>
          </a:prstGeom>
          <a:solidFill>
            <a:srgbClr val="F59E0B">
              <a:alpha val="15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10312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7-SEG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66560" y="210312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数码管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606040"/>
            <a:ext cx="3017520" cy="411480"/>
          </a:xfrm>
          <a:prstGeom prst="rect">
            <a:avLst/>
          </a:prstGeom>
          <a:solidFill>
            <a:srgbClr val="F97316">
              <a:alpha val="15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60604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731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6656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指示灯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0" y="3108960"/>
            <a:ext cx="3017520" cy="411480"/>
          </a:xfrm>
          <a:prstGeom prst="rect">
            <a:avLst/>
          </a:prstGeom>
          <a:solidFill>
            <a:srgbClr val="D946EF">
              <a:alpha val="15000"/>
            </a:srgbClr>
          </a:solidFill>
          <a:ln w="15240">
            <a:solidFill>
              <a:srgbClr val="D94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1089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46E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BTN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66560" y="31089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矩阵按键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3611880"/>
            <a:ext cx="3017520" cy="411480"/>
          </a:xfrm>
          <a:prstGeom prst="rect">
            <a:avLst/>
          </a:prstGeom>
          <a:solidFill>
            <a:srgbClr val="94A3B8">
              <a:alpha val="1500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36118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SW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66560" y="36118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拨码开关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设计思路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APPROACH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8" name="Shape 6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9" name="Text 7"/>
          <p:cNvSpPr/>
          <p:nvPr/>
        </p:nvSpPr>
        <p:spPr>
          <a:xfrm>
            <a:off x="731520" y="1097280"/>
            <a:ext cx="365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17043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渲染与逻辑分离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481328"/>
            <a:ext cx="7315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VGA 渲染使用纯组合逻辑（无 posedge），游戏逻辑以 60Hz frame_tick 驱动，两者在 vga_top / game_logic 中独立运作，避免时序耦合。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13" name="Shape 11"/>
          <p:cNvSpPr/>
          <p:nvPr/>
        </p:nvSpPr>
        <p:spPr>
          <a:xfrm>
            <a:off x="548640" y="2103120"/>
            <a:ext cx="54864" cy="9144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4" name="Text 12"/>
          <p:cNvSpPr/>
          <p:nvPr/>
        </p:nvSpPr>
        <p:spPr>
          <a:xfrm>
            <a:off x="731520" y="2103120"/>
            <a:ext cx="365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1762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固定槽位管理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487168"/>
            <a:ext cx="7315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敌机、子弹、障碍物均采用固定槽位池（pool）管理，不依赖动态分配，保证资源可预测，避免综合后的组合逻辑深度过深。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18" name="Shape 16"/>
          <p:cNvSpPr/>
          <p:nvPr/>
        </p:nvSpPr>
        <p:spPr>
          <a:xfrm>
            <a:off x="548640" y="3108960"/>
            <a:ext cx="54864" cy="9144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731520" y="3108960"/>
            <a:ext cx="365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318211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优先级链式合成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493008"/>
            <a:ext cx="7315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多实体并行渲染后通过优先级 MUX 链合成最终像素，HUD &gt; 玩家 &gt; 子弹 &gt; 敌机 &gt; 障碍物 &gt; 背景，单 cycle 出结果。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23" name="Shape 21"/>
          <p:cNvSpPr/>
          <p:nvPr/>
        </p:nvSpPr>
        <p:spPr>
          <a:xfrm>
            <a:off x="548640" y="4114800"/>
            <a:ext cx="54864" cy="914400"/>
          </a:xfrm>
          <a:prstGeom prst="rect">
            <a:avLst/>
          </a:prstGeom>
          <a:solidFill>
            <a:srgbClr val="D946EF"/>
          </a:solidFill>
        </p:spPr>
      </p:sp>
      <p:sp>
        <p:nvSpPr>
          <p:cNvPr id="24" name="Text 22"/>
          <p:cNvSpPr/>
          <p:nvPr/>
        </p:nvSpPr>
        <p:spPr>
          <a:xfrm>
            <a:off x="731520" y="4114800"/>
            <a:ext cx="365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46E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43000" y="418795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五状态 FSM 管理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498848"/>
            <a:ext cx="7315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游戏全局使用 Moore 型状态机：MENU → PLAYING → PAUSED / GAMEOVER / WIN，状态转换统一在 frame_tick 边沿处理。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097280"/>
            <a:ext cx="3657600" cy="457200"/>
          </a:xfrm>
          <a:prstGeom prst="rect">
            <a:avLst/>
          </a:prstGeom>
          <a:solidFill>
            <a:srgbClr val="06B6D4">
              <a:alpha val="2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0972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game_top.v  顶层模块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840480" cy="411480"/>
          </a:xfrm>
          <a:prstGeom prst="rect">
            <a:avLst/>
          </a:prstGeom>
          <a:solidFill>
            <a:srgbClr val="22C55E">
              <a:alpha val="15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vga_top.v  渲染管线  (25MHz, 纯组合渲染)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840480" cy="411480"/>
          </a:xfrm>
          <a:prstGeom prst="rect">
            <a:avLst/>
          </a:prstGeom>
          <a:solidFill>
            <a:srgbClr val="F59E0B">
              <a:alpha val="15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2880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game_logic.v  核心逻辑  (60Hz FSM)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rot="9840000">
            <a:off x="457200" y="1554480"/>
            <a:ext cx="192024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1554480"/>
            <a:ext cx="192024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2560320"/>
            <a:ext cx="1280160" cy="73152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17" name="Text 15"/>
          <p:cNvSpPr/>
          <p:nvPr/>
        </p:nvSpPr>
        <p:spPr>
          <a:xfrm>
            <a:off x="457200" y="2606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vgac.v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640×480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时序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920240" y="2560320"/>
            <a:ext cx="1280160" cy="73152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20" name="Text 18"/>
          <p:cNvSpPr/>
          <p:nvPr/>
        </p:nvSpPr>
        <p:spPr>
          <a:xfrm>
            <a:off x="1920240" y="2606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player_render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20240" y="28346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玩家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飞机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383280" y="2560320"/>
            <a:ext cx="1280160" cy="73152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23" name="Text 21"/>
          <p:cNvSpPr/>
          <p:nvPr/>
        </p:nvSpPr>
        <p:spPr>
          <a:xfrm>
            <a:off x="3383280" y="2606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enemy_render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28346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敌机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UFO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1280160" cy="73152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26" name="Text 24"/>
          <p:cNvSpPr/>
          <p:nvPr/>
        </p:nvSpPr>
        <p:spPr>
          <a:xfrm>
            <a:off x="4846320" y="2606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bullet_render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28346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子弹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渲染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309360" y="2560320"/>
            <a:ext cx="1280160" cy="73152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29" name="Text 27"/>
          <p:cNvSpPr/>
          <p:nvPr/>
        </p:nvSpPr>
        <p:spPr>
          <a:xfrm>
            <a:off x="6309360" y="2606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hud_render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28346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界面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772400" y="2560320"/>
            <a:ext cx="1280160" cy="73152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2" name="Text 30"/>
          <p:cNvSpPr/>
          <p:nvPr/>
        </p:nvSpPr>
        <p:spPr>
          <a:xfrm>
            <a:off x="7772400" y="2606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menu_render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0" y="28346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菜单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界面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82880" y="3474720"/>
            <a:ext cx="2560320" cy="1097280"/>
          </a:xfrm>
          <a:prstGeom prst="rect">
            <a:avLst/>
          </a:prstGeom>
          <a:solidFill>
            <a:srgbClr val="152030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4747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46E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37947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PS/2 Keyboard  |  Matrix BTN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Switch[15:0]  |  AntiJitter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3474720"/>
            <a:ext cx="2560320" cy="1097280"/>
          </a:xfrm>
          <a:prstGeom prst="rect">
            <a:avLst/>
          </a:prstGeom>
          <a:solidFill>
            <a:srgbClr val="1520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4747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37947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VGA {R,G,B,HS,VS}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7-Segment + LED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DispNum  |  Seg7Device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核心模块详解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8" name="Text 6"/>
          <p:cNvSpPr/>
          <p:nvPr/>
        </p:nvSpPr>
        <p:spPr>
          <a:xfrm>
            <a:off x="640080" y="1051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ps2_keyboard.v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PS/2 接收器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17520" y="112471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PS/2 Set 2 协议解码，下降沿采样 11-bit 帧，识别 make/break 码，输出 key_ready 脉冲。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12" name="Text 10"/>
          <p:cNvSpPr/>
          <p:nvPr/>
        </p:nvSpPr>
        <p:spPr>
          <a:xfrm>
            <a:off x="640080" y="1691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player_render.v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9659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玩家渲染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0" y="17647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纯组合逻辑，三角形飞机 (W=16, H=24)，支持 cockpit/引擎/机翼细节，无敌状态闪烁 (pl_flash)。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16" name="Text 14"/>
          <p:cNvSpPr/>
          <p:nvPr/>
        </p:nvSpPr>
        <p:spPr>
          <a:xfrm>
            <a:off x="640080" y="23317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enemy_render.v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60604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敌机渲染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17520" y="240487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纯组合逻辑，椭圆 UFO (a=14, b=10)，含 cockpit dome 和 rim 细节，颜色按 HP 变化。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20" name="Text 18"/>
          <p:cNvSpPr/>
          <p:nvPr/>
        </p:nvSpPr>
        <p:spPr>
          <a:xfrm>
            <a:off x="640080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bullet_render.v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子弹渲染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017520" y="304495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玩家弹为菱形 (Manhattan≤2)，敌弹为 3×3 方块，颜色区分 (青/红)。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24" name="Text 22"/>
          <p:cNvSpPr/>
          <p:nvPr/>
        </p:nvSpPr>
        <p:spPr>
          <a:xfrm>
            <a:off x="640080" y="3611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obstacle_render.v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障碍物渲染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17520" y="368503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纯组合逻辑，石头 3 种尺寸/形状，由 size/shape 参数控制外观。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28" name="Text 26"/>
          <p:cNvSpPr/>
          <p:nvPr/>
        </p:nvSpPr>
        <p:spPr>
          <a:xfrm>
            <a:off x="640080" y="42519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6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hud_render.v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5262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HUD 界面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0" y="432511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显示分数、生命、暂停符号、GAME OVER / YOU WIN 文字。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键盘输入系统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PS/2 KEYBOARD 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PS/2 协议帧 (11-bit)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11480" cy="64008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5400000">
            <a:off x="5669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Start=0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005840" y="1508760"/>
            <a:ext cx="411480" cy="64008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5400000">
            <a:off x="10241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D0 LSB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463040" y="1508760"/>
            <a:ext cx="411480" cy="64008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5400000">
            <a:off x="14813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D1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1920240" y="1508760"/>
            <a:ext cx="411480" cy="64008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5400000">
            <a:off x="19385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377440" y="1508760"/>
            <a:ext cx="411480" cy="64008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5400000">
            <a:off x="23957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D3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834640" y="1508760"/>
            <a:ext cx="411480" cy="64008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 rot="5400000">
            <a:off x="28529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D4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291840" y="1508760"/>
            <a:ext cx="411480" cy="64008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 rot="5400000">
            <a:off x="33101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D5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749040" y="1508760"/>
            <a:ext cx="411480" cy="64008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 rot="5400000">
            <a:off x="37673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D6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206240" y="1508760"/>
            <a:ext cx="411480" cy="640080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5400000">
            <a:off x="42245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D7 MSB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663440" y="1508760"/>
            <a:ext cx="411480" cy="6400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 rot="5400000">
            <a:off x="46817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Parity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120640" y="1508760"/>
            <a:ext cx="411480" cy="64008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 rot="5400000">
            <a:off x="5138928" y="1691640"/>
            <a:ext cx="3749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Stop=1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48640" y="2331720"/>
            <a:ext cx="5029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下降沿 (PS2_CLK fall) 采样数据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LSB 先行, 8-bit 数据位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奇校验 (Odd Parity)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通码 Make Code: 按下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断码 Break Code: F0 + 通码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E0 扩展前缀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接收超时保护 (≈1.3ms)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1097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键位映射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0720" y="14630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W/A/S/D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1463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方向移动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18470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 / Space / Enter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184708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开火 / 确认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22311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0" y="223113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暂停 / 继续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26151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46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261518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切换数码管显示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60720" y="2999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1/2/3/4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23760" y="29992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选择难度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60720" y="3383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BTN[3:0] + BTNX4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23760" y="33832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板载按键备份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0" y="3840480"/>
            <a:ext cx="3200400" cy="914400"/>
          </a:xfrm>
          <a:prstGeom prst="rect">
            <a:avLst/>
          </a:prstGeom>
          <a:solidFill>
            <a:srgbClr val="15203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386791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按键状态管理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60720" y="41148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make: set key=1  break: clear key=0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pulse edge: 单次触发 (P/Enter/K)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VGA 渲染管线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RENDERING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143000" cy="777240"/>
          </a:xfrm>
          <a:prstGeom prst="rect">
            <a:avLst/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col/row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2344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54480" y="1097280"/>
            <a:ext cx="1143000" cy="777240"/>
          </a:xfrm>
          <a:prstGeom prst="rect">
            <a:avLst/>
          </a:prstGeom>
          <a:solidFill>
            <a:srgbClr val="22C55E">
              <a:alpha val="20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097280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_render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12344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34640" y="1097280"/>
            <a:ext cx="1143000" cy="777240"/>
          </a:xfrm>
          <a:prstGeom prst="rect">
            <a:avLst/>
          </a:prstGeom>
          <a:solidFill>
            <a:srgbClr val="EF4444">
              <a:alpha val="20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097280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enemy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_render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77640" y="12344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1097280"/>
            <a:ext cx="1143000" cy="777240"/>
          </a:xfrm>
          <a:prstGeom prst="rect">
            <a:avLst/>
          </a:prstGeom>
          <a:solidFill>
            <a:srgbClr val="F59E0B">
              <a:alpha val="20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097280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bullet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_render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12344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94960" y="1097280"/>
            <a:ext cx="1143000" cy="777240"/>
          </a:xfrm>
          <a:prstGeom prst="rect">
            <a:avLst/>
          </a:prstGeom>
          <a:solidFill>
            <a:srgbClr val="D946EF">
              <a:alpha val="20000"/>
            </a:srgbClr>
          </a:solidFill>
          <a:ln w="15240">
            <a:solidFill>
              <a:srgbClr val="D94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097280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hud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_render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37960" y="12344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1097280"/>
            <a:ext cx="1143000" cy="777240"/>
          </a:xfrm>
          <a:prstGeom prst="rect">
            <a:avLst/>
          </a:prstGeom>
          <a:solidFill>
            <a:srgbClr val="F97316">
              <a:alpha val="20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097280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Priority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MUX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18120" y="12344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0" y="1097280"/>
            <a:ext cx="1143000" cy="777240"/>
          </a:xfrm>
          <a:prstGeom prst="rect">
            <a:avLst/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097280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vgac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vga_data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2103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渲染规格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237744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像素时钟: 25MHz (100MHz / 4)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分辨率: 640×480 @ 60Hz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色深: 12-bit BGR 序 (R4:G4:B4)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颜色在 game_defs.vh 中以 BGR 宏定义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rdn=1 消隐期 → 强制输出黑色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21031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优先级合成链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24688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46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HUD (分数/生命/暂停)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27889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Player (我方飞机)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3108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Player Bullets (玩家子弹)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3429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 Enemy Bullets (敌弹)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37490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 Enemies (敌机 UFO)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40690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 Obstacles (障碍物)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43891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7. Menu / Background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3794760"/>
            <a:ext cx="3200400" cy="731520"/>
          </a:xfrm>
          <a:prstGeom prst="rect">
            <a:avLst/>
          </a:prstGeom>
          <a:solidFill>
            <a:srgbClr val="15203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382219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Frame Tick 生成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40690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vs 下降沿检测 → 60Hz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游戏逻辑在 V-blank 更新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游戏核心机制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MECHANICS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828800" cy="548640"/>
          </a:xfrm>
          <a:prstGeom prst="rect">
            <a:avLst/>
          </a:prstGeom>
          <a:solidFill>
            <a:srgbClr val="06B6D4">
              <a:alpha val="2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MENU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1828800" cy="548640"/>
          </a:xfrm>
          <a:prstGeom prst="rect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3716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PLAYING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3200400"/>
            <a:ext cx="1828800" cy="548640"/>
          </a:xfrm>
          <a:prstGeom prst="rect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2004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PAUSED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371600"/>
            <a:ext cx="1828800" cy="548640"/>
          </a:xfrm>
          <a:prstGeom prst="rect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3716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GAMEOVER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3200400"/>
            <a:ext cx="1828800" cy="548640"/>
          </a:xfrm>
          <a:prstGeom prst="rect">
            <a:avLst/>
          </a:prstGeom>
          <a:solidFill>
            <a:srgbClr val="D946EF">
              <a:alpha val="20000"/>
            </a:srgbClr>
          </a:solidFill>
          <a:ln w="19050">
            <a:solidFill>
              <a:srgbClr val="D94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2004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2560320" cy="914400"/>
          </a:xfrm>
          <a:prstGeom prst="rect">
            <a:avLst/>
          </a:prstGeom>
          <a:solidFill>
            <a:srgbClr val="1520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5020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玩家系统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187952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WASD / BTN 移动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J/Space/Enter 双发弹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数码管切换显示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击杀 10/25/50 自动升级武器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点生命 + 3 秒无敌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无敌期间闪烁提示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91840" y="3931920"/>
            <a:ext cx="2560320" cy="914400"/>
          </a:xfrm>
          <a:prstGeom prst="rect">
            <a:avLst/>
          </a:prstGeom>
          <a:solidFill>
            <a:srgbClr val="15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95020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敌机系统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4187952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 75~130 帧轮转生成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椭圆 UFO, HP 1~3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左右漂移 + 下移 (y&lt;105)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难度决定开火密度/子弹数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越屏自动回收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035040" y="3931920"/>
            <a:ext cx="2560320" cy="914400"/>
          </a:xfrm>
          <a:prstGeom prst="rect">
            <a:avLst/>
          </a:prstGeom>
          <a:solidFill>
            <a:srgbClr val="1520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95020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碰撞与计分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4187952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AABB 碰撞检测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玩家子弹 vs 敌机/障碍物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敌弹/敌机/障碍物 vs 玩家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击杀 +5 分, 生存 +1/秒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分通关, 无尽无上限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显示与计分系统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&amp; SCORING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菜单界面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41148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AEROPLANE DANMAKU SHOOTING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START ]  ← 黄色高亮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DIFFICULTY: EASY / NORMAL / HARD / HELL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MODE: SCORE / ENDLESS  (SW[0])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PRESS START  ← 灰色提示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097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计分规则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15087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击毁敌机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1508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× 敌机HP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874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生存奖励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+1 分/秒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2402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积分模式目标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22402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500 分通关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606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无尽模式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2606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46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无上限，生存至上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731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7段数码管 (循环切换 K键)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2286000" cy="502920"/>
          </a:xfrm>
          <a:prstGeom prst="rect">
            <a:avLst/>
          </a:prstGeom>
          <a:solidFill>
            <a:srgbClr val="1520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6732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KILLS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00507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SEGMODE_KILLS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08960" y="3749040"/>
            <a:ext cx="2286000" cy="502920"/>
          </a:xfrm>
          <a:prstGeom prst="rect">
            <a:avLst/>
          </a:prstGeom>
          <a:solidFill>
            <a:srgbClr val="1520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76732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LIVES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400507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SEGMODE_LIVES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69280" y="3749040"/>
            <a:ext cx="2286000" cy="502920"/>
          </a:xfrm>
          <a:prstGeom prst="rect">
            <a:avLst/>
          </a:prstGeom>
          <a:solidFill>
            <a:srgbClr val="1520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376732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400507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SEGMODE_SCORE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15203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3159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溢出显示 (LED[7:0])：积分/Kills 超 4 位时，高位用 LED 二进制表示。如 123456 → 数码管 3456, LED=00001100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3152" cy="4114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73152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实现亮点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HIGHLIGHTS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8234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4864" cy="54864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8" name="Text 6"/>
          <p:cNvSpPr/>
          <p:nvPr/>
        </p:nvSpPr>
        <p:spPr>
          <a:xfrm>
            <a:off x="640080" y="10515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0515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纯组合逻辑渲染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30759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 render 模块无 posedge，单 cycle 判定像素归属。优先级 MUX 链合成最终颜色，无帧缓冲 → 零延迟渲染。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54864" cy="54864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2" name="Text 10"/>
          <p:cNvSpPr/>
          <p:nvPr/>
        </p:nvSpPr>
        <p:spPr>
          <a:xfrm>
            <a:off x="640080" y="16916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16916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固定槽位实体管理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194767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敌机 + 16 玩家弹 + 64 敌弹 + 8 障碍物。扁平成超高宽总线，generate 块展开，避免综合后组合逻辑过深。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54864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6" name="Text 14"/>
          <p:cNvSpPr/>
          <p:nvPr/>
        </p:nvSpPr>
        <p:spPr>
          <a:xfrm>
            <a:off x="640080" y="233172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3317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PS/2 通断码精准解码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5877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下降沿采样、奇校验验证、E0/F0 前缀识别、超时保护。make/break 维护按键状态表，多键无冲。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54864" cy="548640"/>
          </a:xfrm>
          <a:prstGeom prst="rect">
            <a:avLst/>
          </a:prstGeom>
          <a:solidFill>
            <a:srgbClr val="D946EF"/>
          </a:solidFill>
        </p:spPr>
      </p:sp>
      <p:sp>
        <p:nvSpPr>
          <p:cNvPr id="20" name="Text 18"/>
          <p:cNvSpPr/>
          <p:nvPr/>
        </p:nvSpPr>
        <p:spPr>
          <a:xfrm>
            <a:off x="640080" y="29718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46E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29718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V-Blank 同步更新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2278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下降沿检测生成 frame_tick，游戏逻辑在消隐期更新，避免画面撕裂 (tearing)。60Hz 稳定驱动。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54864" cy="54864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4" name="Text 22"/>
          <p:cNvSpPr/>
          <p:nvPr/>
        </p:nvSpPr>
        <p:spPr>
          <a:xfrm>
            <a:off x="640080" y="36118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36118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难度自适应系统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38679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EASY/NORMAL/HARD/HELL 四级难度，影响生成速度、开火密度、敌弹数量、HP 缩放。时间递增加动态难度。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54864" cy="54864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8" name="Text 26"/>
          <p:cNvSpPr/>
          <p:nvPr/>
        </p:nvSpPr>
        <p:spPr>
          <a:xfrm>
            <a:off x="640080" y="42519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88720" y="42519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LFSR 伪随机数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450799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16-bit Galois LFSR，多项式 x¹⁶+x¹⁴+x¹³+x¹¹+1。生成敌机 X 坐标、方向、射击间隔，保证可重复的不确定性。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SUMMARY &amp; FUTURE 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320040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7" name="Text 5"/>
          <p:cNvSpPr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已实现功能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640×480 VGA 弹幕射击游戏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PS/2 键盘 + 板载按键双重控制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四级难度 + 积分/无尽两种模式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状态 FSM 游戏流程管理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玩家弹 + 64 敌弹动态槽位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敌机 + 8 障碍物实体池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AABB 碰撞检测 + 得分计数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7段数码管 + LED 外设驱动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无敌保护 + 武器升级 + 复活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作弊模式 (SW 质数组合)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152030"/>
          </a:solidFill>
        </p:spPr>
      </p:sp>
      <p:sp>
        <p:nvSpPr>
          <p:cNvPr id="10" name="Text 8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后续改进方向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曲线弹道 (CIRC/PARA) 的完整实现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音频输出 (蜂鸣器/BGM/音效)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帧缓冲 + 双缓冲消除撕裂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更丰富的精灵/动画效果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难度动态递增强化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关卡/Boss 战设计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高分记录存储 (BRAM/Flash)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HDMI 输出高分辨率模式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6863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数字逻辑设计课程 · Xilinx K7 FPGA · Vivado 2025.1 · Verilog HDL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4029</Words>
  <Application>WPS 演示</Application>
  <PresentationFormat>On-screen Show (16:9)</PresentationFormat>
  <Paragraphs>526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Consolas</vt:lpstr>
      <vt:lpstr>Consolas</vt:lpstr>
      <vt:lpstr>Consolas</vt:lpstr>
      <vt:lpstr>Arial</vt:lpstr>
      <vt:lpstr>Arial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Aeroplane Danmaku Shooting - 基于 FPGA 的弹幕射击游戏</dc:title>
  <dc:creator>数字逻辑设计课程组</dc:creator>
  <dc:subject>PptxGenJS Presentation</dc:subject>
  <cp:lastModifiedBy>TeddyJiang</cp:lastModifiedBy>
  <cp:revision>3</cp:revision>
  <dcterms:created xsi:type="dcterms:W3CDTF">2026-06-24T13:11:00Z</dcterms:created>
  <dcterms:modified xsi:type="dcterms:W3CDTF">2026-06-24T13:14:29Z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346F004F07BD492D8DAC8977C4A6F6DA_12</vt:lpwstr>
  </property>
  <property fmtid="{D5CDD505-2E9C-101B-9397-08002B2CF9AE}" pid="3" name="KSOProductBuildVer">
    <vt:lpwstr>2052-12.1.0.26895</vt:lpwstr>
  </property>
</Properties>
</file>